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ADD418-C01A-4919-8FF0-E07CC572A16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B6AF2-C3CD-47F5-95ED-A0EBE2958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066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B6AF2-C3CD-47F5-95ED-A0EBE29583F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303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B7C7A-EF19-7882-7C65-81D95D093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2FF287-73DD-22E5-2840-31C635657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2C838-8594-42FE-A47E-6506BB869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1229-5721-466F-B9FD-47232C60847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85869-07CF-5596-D14E-0E9D8F6BD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4881A-2360-7387-A3A5-842052831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AE4-20E4-4EA9-9857-F867D4CA2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255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77231-B773-2BF0-5012-9DC7A3929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86E7-3838-95A8-4E59-143005F5D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85C31-0D50-EEB0-B194-177B9F3ED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1229-5721-466F-B9FD-47232C60847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B0D4A-A81A-3604-010B-1C212CB82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1AEF-7336-FA2C-CB32-D14F8B4C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AE4-20E4-4EA9-9857-F867D4CA2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313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B3740-10ED-4F42-B81E-86A6BA972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7DCBE-7B2E-3580-B4C4-94DDBE67D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73635-1F39-E5A0-4AE7-DF844DE28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1229-5721-466F-B9FD-47232C60847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4B261-7366-4B16-4466-A790683A2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500C9-584B-6A73-5DF9-2EB2D5E21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AE4-20E4-4EA9-9857-F867D4CA2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352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4D262-456D-81D3-D59E-8E5E0327D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FE958-2685-088C-4F66-069244394D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9D688-9B2A-D000-A1DB-83B4E6DFC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571D7-7E93-2D30-99F8-912FF6D15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1229-5721-466F-B9FD-47232C60847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9B33F-4924-22B8-A9D8-828C02D4C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64509-976A-7659-3B15-2992F2BEE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AE4-20E4-4EA9-9857-F867D4CA2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437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F444-ADC0-A880-3802-035B4EFBE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7CEC0-5858-C42F-0182-6FA00EBE0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3E0B7-1817-FD1F-C5CA-742105334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29320-47F1-1277-0B1C-335A5561E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42D8A2-BDC9-26C2-8904-48947BF9D2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813380-EF06-17B7-9B9C-1F25A788E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1229-5721-466F-B9FD-47232C60847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229F98-CA82-A957-87FA-0CE626AF1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D80A0B-F539-2288-FA19-7F0F583D6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AE4-20E4-4EA9-9857-F867D4CA2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517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52D81-5072-7BFA-8A75-58EF72481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F5EC1-DCBB-FC0B-6CD4-DD7A5C17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1229-5721-466F-B9FD-47232C60847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01AE50-486F-5D0C-22DC-458B9FBB9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5EF7D-D1EC-6DE9-B478-63B210B4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AE4-20E4-4EA9-9857-F867D4CA2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91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6BF92A-6D9D-28B9-772C-6B3BCFF81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1229-5721-466F-B9FD-47232C60847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71BE64-8543-51AF-8B62-29C05CC2C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EE09C-81F1-5DCF-A7EF-90FA0E230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AE4-20E4-4EA9-9857-F867D4CA2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315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CFC0C-AAFC-BD94-CD2D-8A73D7AE3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B2FEB-5F6C-1BC5-ADFE-0F2DC1F0B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B23E1-0E2A-DE57-B54B-0E9F27447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51580-537E-4C39-4374-6D00B9B55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1229-5721-466F-B9FD-47232C60847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5C5B9-2980-67ED-0125-106A32913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06E1A-255A-1F7C-367E-D16AB08CA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AE4-20E4-4EA9-9857-F867D4CA2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702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E5F4-6D3D-6DD4-5DE5-C4DAA4701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5FC4E1-9ECC-F0BF-BC35-AEB51FC1F8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DE10C-DB78-93F4-07FA-69A2C26E4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D06377-6A9A-A222-FFB7-EC732D79F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1229-5721-466F-B9FD-47232C60847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54140-F7D5-8404-C13A-889DA06F4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A520D-45EA-0884-4C80-F257F6BA6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AE4-20E4-4EA9-9857-F867D4CA2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715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F1893-2095-E321-C861-7342176C1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CC1984-DA04-9AA4-9B03-D5AB700748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46460-D3AB-7FF5-64DD-5C47FF5F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1229-5721-466F-B9FD-47232C60847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F6ECF-E31C-76EE-F173-8248924D7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3DFAD-D2CE-F3A0-BD9E-0052F63E7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AE4-20E4-4EA9-9857-F867D4CA2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770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B85B-1F6C-26FF-1F62-A8D3A62CC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87FBB-FEFC-40A0-ADCD-DE5B5610C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F0446-7AB1-8C10-C243-F65726786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1229-5721-466F-B9FD-47232C60847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E2886-A267-5893-1F52-6CE48DAAB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68261-5080-3E78-BCC9-F5E52D79C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AE4-20E4-4EA9-9857-F867D4CA2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385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5574" y="6459321"/>
            <a:ext cx="1429124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1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BEB2DA-DBFA-E11C-5C40-9659DAA32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29356-39AC-C207-B48D-9F4F7A38A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D5C34-8E83-3A70-5BF1-15C0D5A690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C1229-5721-466F-B9FD-47232C60847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64AF3-8B46-6BDD-6B16-55E6F9F3D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581A2-BE5F-7934-E8FA-969461A0C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83AE4-20E4-4EA9-9857-F867D4CA2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02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71774" y="2425303"/>
            <a:ext cx="6420451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3667" kern="0" spc="-73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ource Serif 4 SemiBold" pitchFamily="34" charset="-120"/>
              </a:rPr>
              <a:t>Cyclistic Bike-Share Analysis</a:t>
            </a:r>
            <a:endParaRPr lang="en-US" sz="3667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270104" y="3846016"/>
            <a:ext cx="622379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kern="0" spc="-3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 members and casual riders behave — and how to convert casuals to annual members</a:t>
            </a:r>
            <a:endParaRPr lang="en-US" sz="1533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4C42F9-ABA9-D2A5-1C96-534477826E4B}"/>
              </a:ext>
            </a:extLst>
          </p:cNvPr>
          <p:cNvSpPr/>
          <p:nvPr/>
        </p:nvSpPr>
        <p:spPr>
          <a:xfrm>
            <a:off x="10657840" y="6400800"/>
            <a:ext cx="1503680" cy="416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B801390A-6763-FCC4-CF2C-3E3E3773655E}"/>
              </a:ext>
            </a:extLst>
          </p:cNvPr>
          <p:cNvSpPr/>
          <p:nvPr/>
        </p:nvSpPr>
        <p:spPr>
          <a:xfrm>
            <a:off x="8838230" y="6335371"/>
            <a:ext cx="3323290" cy="522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500" kern="0" spc="-73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ource Serif 4 SemiBold" pitchFamily="34" charset="-120"/>
              </a:rPr>
              <a:t>By: Farhan Deshmukh</a:t>
            </a:r>
            <a:endParaRPr lang="en-US" sz="25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70104" y="1151731"/>
            <a:ext cx="6223793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4000" kern="0" spc="-73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ource Serif 4 SemiBold" pitchFamily="34" charset="-120"/>
              </a:rPr>
              <a:t>Business task</a:t>
            </a:r>
            <a:endParaRPr lang="en-US" sz="4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162920" y="2537966"/>
            <a:ext cx="6115664" cy="1782068"/>
          </a:xfrm>
          <a:prstGeom prst="roundRect">
            <a:avLst>
              <a:gd name="adj" fmla="val 4701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270104" y="2786855"/>
            <a:ext cx="260062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Objective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270104" y="3221310"/>
            <a:ext cx="5152103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kern="0" spc="-3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 do annual members and casual riders use Cyclistic data differently?</a:t>
            </a:r>
            <a:endParaRPr lang="en-US" sz="1533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AC909C-D4A5-02D5-F2E4-AEC9D291305C}"/>
              </a:ext>
            </a:extLst>
          </p:cNvPr>
          <p:cNvSpPr/>
          <p:nvPr/>
        </p:nvSpPr>
        <p:spPr>
          <a:xfrm>
            <a:off x="10657840" y="6410960"/>
            <a:ext cx="1503680" cy="416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B088C1E-5E59-08C8-9560-161D2EEA9BC9}"/>
              </a:ext>
            </a:extLst>
          </p:cNvPr>
          <p:cNvSpPr/>
          <p:nvPr/>
        </p:nvSpPr>
        <p:spPr>
          <a:xfrm>
            <a:off x="678440" y="1230389"/>
            <a:ext cx="6223793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4000" kern="0" spc="-73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ource Serif 4 SemiBold" pitchFamily="34" charset="-120"/>
              </a:rPr>
              <a:t>Data Preparation &amp; Cleaning</a:t>
            </a:r>
            <a:endParaRPr lang="en-US" sz="4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6AC4E28-FB53-308C-E299-5D035DD57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40" y="2024345"/>
            <a:ext cx="5660913" cy="32078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A8FCDD-5185-3953-ADF4-308BA6D16E21}"/>
              </a:ext>
            </a:extLst>
          </p:cNvPr>
          <p:cNvSpPr txBox="1"/>
          <p:nvPr/>
        </p:nvSpPr>
        <p:spPr>
          <a:xfrm>
            <a:off x="6685935" y="1817069"/>
            <a:ext cx="4660491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Dataset: last 12 months of Cyclistic trip data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Removed some unwanted geo coordinates columns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Checked missing values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Convert the datatypes of some columns that are not right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Created new columns like ride_length &amp; week days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Identified and removed negative ride lengths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E22C9E-2520-6E39-C3A6-8562FD2758F4}"/>
              </a:ext>
            </a:extLst>
          </p:cNvPr>
          <p:cNvSpPr/>
          <p:nvPr/>
        </p:nvSpPr>
        <p:spPr>
          <a:xfrm>
            <a:off x="10657840" y="6421120"/>
            <a:ext cx="1503680" cy="416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2467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401CE97-C742-6EE9-0530-88479588ECB2}"/>
              </a:ext>
            </a:extLst>
          </p:cNvPr>
          <p:cNvSpPr/>
          <p:nvPr/>
        </p:nvSpPr>
        <p:spPr>
          <a:xfrm>
            <a:off x="5723357" y="288732"/>
            <a:ext cx="6895363" cy="1723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4000" kern="0" spc="-55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ource Serif 4 SemiBold" pitchFamily="34" charset="-120"/>
              </a:rPr>
              <a:t>Average ride length </a:t>
            </a:r>
          </a:p>
          <a:p>
            <a:pPr>
              <a:lnSpc>
                <a:spcPct val="104000"/>
              </a:lnSpc>
            </a:pPr>
            <a:r>
              <a:rPr lang="en-US" sz="4000" kern="0" spc="-55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ource Serif 4 SemiBold" pitchFamily="34" charset="-120"/>
              </a:rPr>
              <a:t> Casual vs Member</a:t>
            </a:r>
            <a:endParaRPr lang="en-US" sz="4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5A63DF-0BFA-2066-FC84-C98502A9E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794" y="1586547"/>
            <a:ext cx="7629832" cy="5281014"/>
          </a:xfrm>
          <a:prstGeom prst="rect">
            <a:avLst/>
          </a:prstGeom>
        </p:spPr>
      </p:pic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241D5B34-C7D3-F1FC-FEE0-AF832D49D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336012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9986123-2042-B5F2-FDA6-D7BBB4C875AB}"/>
              </a:ext>
            </a:extLst>
          </p:cNvPr>
          <p:cNvSpPr/>
          <p:nvPr/>
        </p:nvSpPr>
        <p:spPr>
          <a:xfrm>
            <a:off x="10657840" y="6421120"/>
            <a:ext cx="1503680" cy="416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6027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452E4-A6CF-C1D6-546C-D7CBBEE44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99E22E-60F6-AE81-AD43-7E097CC49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" y="1864360"/>
            <a:ext cx="6421120" cy="47853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BF325E0-5482-0387-766D-7DC4D49B8BF2}"/>
              </a:ext>
            </a:extLst>
          </p:cNvPr>
          <p:cNvSpPr/>
          <p:nvPr/>
        </p:nvSpPr>
        <p:spPr>
          <a:xfrm>
            <a:off x="10647680" y="6400800"/>
            <a:ext cx="1503680" cy="416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45CB1428-A5E1-0BC5-C661-E4AC82C08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241" y="0"/>
            <a:ext cx="3921760" cy="6858000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5E3C76C1-E81E-23C6-1C13-7095B149D451}"/>
              </a:ext>
            </a:extLst>
          </p:cNvPr>
          <p:cNvSpPr/>
          <p:nvPr/>
        </p:nvSpPr>
        <p:spPr>
          <a:xfrm>
            <a:off x="335281" y="507720"/>
            <a:ext cx="8117840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kern="0" spc="-55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ource Serif 4 SemiBold" pitchFamily="34" charset="-120"/>
              </a:rPr>
              <a:t>Total rides — Casual vs Member</a:t>
            </a:r>
            <a:endParaRPr lang="en-US" sz="4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3DA561B1-508E-09EC-8E9D-9089F404B6E2}"/>
              </a:ext>
            </a:extLst>
          </p:cNvPr>
          <p:cNvSpPr/>
          <p:nvPr/>
        </p:nvSpPr>
        <p:spPr>
          <a:xfrm>
            <a:off x="5903782" y="1064144"/>
            <a:ext cx="2102298" cy="647194"/>
          </a:xfrm>
          <a:prstGeom prst="roundRect">
            <a:avLst>
              <a:gd name="adj" fmla="val 4701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  <p:txBody>
          <a:bodyPr/>
          <a:lstStyle/>
          <a:p>
            <a:r>
              <a:rPr lang="en-IN" dirty="0"/>
              <a:t>Difference: </a:t>
            </a:r>
            <a:r>
              <a:rPr lang="en-IN" b="1" dirty="0"/>
              <a:t>~1.74M rides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2248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8C5C7-AF9F-7E92-309E-B5B7C2E2D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8A661FF-1EF3-5DAF-517C-1999694ACA21}"/>
              </a:ext>
            </a:extLst>
          </p:cNvPr>
          <p:cNvSpPr/>
          <p:nvPr/>
        </p:nvSpPr>
        <p:spPr>
          <a:xfrm>
            <a:off x="5882326" y="487680"/>
            <a:ext cx="4119702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4000" kern="0" spc="-55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ource Serif 4 SemiBold" pitchFamily="34" charset="-120"/>
              </a:rPr>
              <a:t>Ride length by day</a:t>
            </a:r>
            <a:endParaRPr lang="en-US" sz="3667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475C58-E9DD-0D49-491F-AB27B8191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457" y="1314393"/>
            <a:ext cx="7121463" cy="364368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F8BD82-5C26-08EC-6A36-168D7BDE4CB7}"/>
              </a:ext>
            </a:extLst>
          </p:cNvPr>
          <p:cNvSpPr/>
          <p:nvPr/>
        </p:nvSpPr>
        <p:spPr>
          <a:xfrm>
            <a:off x="10657840" y="6410960"/>
            <a:ext cx="1503680" cy="416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3C30675F-73B3-BD41-BBF4-F1E9286A4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13" name="Shape 2">
            <a:extLst>
              <a:ext uri="{FF2B5EF4-FFF2-40B4-BE49-F238E27FC236}">
                <a16:creationId xmlns:a16="http://schemas.microsoft.com/office/drawing/2014/main" id="{4B47D7A5-A316-2C2F-9CAC-2E99318668A5}"/>
              </a:ext>
            </a:extLst>
          </p:cNvPr>
          <p:cNvSpPr/>
          <p:nvPr/>
        </p:nvSpPr>
        <p:spPr>
          <a:xfrm>
            <a:off x="5598982" y="5360673"/>
            <a:ext cx="5089338" cy="1169700"/>
          </a:xfrm>
          <a:prstGeom prst="roundRect">
            <a:avLst>
              <a:gd name="adj" fmla="val 4701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Casual riders tend to have longer ride durations on weekends than on weekdays.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Member ride durations remain consistently lower than casual rides.</a:t>
            </a:r>
          </a:p>
        </p:txBody>
      </p:sp>
    </p:spTree>
    <p:extLst>
      <p:ext uri="{BB962C8B-B14F-4D97-AF65-F5344CB8AC3E}">
        <p14:creationId xmlns:p14="http://schemas.microsoft.com/office/powerpoint/2010/main" val="2542631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8032F-19BF-88E4-621D-8B560CECC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5C0E6AA-EFF1-65E2-E4B5-7289D0550AD3}"/>
              </a:ext>
            </a:extLst>
          </p:cNvPr>
          <p:cNvSpPr/>
          <p:nvPr/>
        </p:nvSpPr>
        <p:spPr>
          <a:xfrm>
            <a:off x="10668000" y="6410960"/>
            <a:ext cx="1503680" cy="416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5F6949CF-8313-2E00-2EA5-8CA1C61EBDB6}"/>
              </a:ext>
            </a:extLst>
          </p:cNvPr>
          <p:cNvSpPr/>
          <p:nvPr/>
        </p:nvSpPr>
        <p:spPr>
          <a:xfrm>
            <a:off x="1179235" y="530180"/>
            <a:ext cx="510980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kern="0" spc="-55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ource Serif 4 SemiBold" pitchFamily="34" charset="-120"/>
              </a:rPr>
              <a:t>Monthly ride trends</a:t>
            </a:r>
            <a:endParaRPr lang="en-US" sz="4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EBD793-4E30-7AD2-8504-323433BBD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01" y="2092960"/>
            <a:ext cx="6279939" cy="4765040"/>
          </a:xfrm>
          <a:prstGeom prst="rect">
            <a:avLst/>
          </a:prstGeom>
        </p:spPr>
      </p:pic>
      <p:sp>
        <p:nvSpPr>
          <p:cNvPr id="15" name="Shape 2">
            <a:extLst>
              <a:ext uri="{FF2B5EF4-FFF2-40B4-BE49-F238E27FC236}">
                <a16:creationId xmlns:a16="http://schemas.microsoft.com/office/drawing/2014/main" id="{1BA1BD19-AB5E-E302-5890-5E0A8721127E}"/>
              </a:ext>
            </a:extLst>
          </p:cNvPr>
          <p:cNvSpPr/>
          <p:nvPr/>
        </p:nvSpPr>
        <p:spPr>
          <a:xfrm>
            <a:off x="6660291" y="2214880"/>
            <a:ext cx="5089338" cy="1087120"/>
          </a:xfrm>
          <a:prstGeom prst="roundRect">
            <a:avLst>
              <a:gd name="adj" fmla="val 4701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  <p:txBody>
          <a:bodyPr/>
          <a:lstStyle/>
          <a:p>
            <a:r>
              <a:rPr lang="en-IN" b="1" dirty="0"/>
              <a:t>Casual riders:</a:t>
            </a:r>
          </a:p>
          <a:p>
            <a:r>
              <a:rPr lang="en-IN" b="1" dirty="0"/>
              <a:t>Casual riders show higher ride volumes during the summer months.</a:t>
            </a:r>
            <a:endParaRPr lang="en-IN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F745112C-611C-0A0D-ECB1-A3D69FEFBD19}"/>
              </a:ext>
            </a:extLst>
          </p:cNvPr>
          <p:cNvSpPr/>
          <p:nvPr/>
        </p:nvSpPr>
        <p:spPr>
          <a:xfrm>
            <a:off x="6660291" y="3635625"/>
            <a:ext cx="5089338" cy="1087120"/>
          </a:xfrm>
          <a:prstGeom prst="roundRect">
            <a:avLst>
              <a:gd name="adj" fmla="val 4701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  <p:txBody>
          <a:bodyPr/>
          <a:lstStyle/>
          <a:p>
            <a:r>
              <a:rPr lang="en-IN" b="1" dirty="0"/>
              <a:t>Member riders:</a:t>
            </a:r>
          </a:p>
          <a:p>
            <a:r>
              <a:rPr lang="en-IN" b="1" dirty="0"/>
              <a:t>Member riders also show higher ride volumes during the summer months.</a:t>
            </a:r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AECAD175-8129-6FA5-9AE3-E4D8C12386E1}"/>
              </a:ext>
            </a:extLst>
          </p:cNvPr>
          <p:cNvSpPr/>
          <p:nvPr/>
        </p:nvSpPr>
        <p:spPr>
          <a:xfrm>
            <a:off x="6660291" y="5020695"/>
            <a:ext cx="5089338" cy="1087120"/>
          </a:xfrm>
          <a:prstGeom prst="roundRect">
            <a:avLst>
              <a:gd name="adj" fmla="val 4701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  <p:txBody>
          <a:bodyPr/>
          <a:lstStyle/>
          <a:p>
            <a:r>
              <a:rPr lang="en-IN" b="1" dirty="0"/>
              <a:t>Overall:</a:t>
            </a:r>
          </a:p>
          <a:p>
            <a:r>
              <a:rPr lang="en-IN" b="1" dirty="0"/>
              <a:t>Both rider groups see their highest ride volumes during summer.</a:t>
            </a:r>
          </a:p>
        </p:txBody>
      </p:sp>
    </p:spTree>
    <p:extLst>
      <p:ext uri="{BB962C8B-B14F-4D97-AF65-F5344CB8AC3E}">
        <p14:creationId xmlns:p14="http://schemas.microsoft.com/office/powerpoint/2010/main" val="2916222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06518A-D024-BC6F-2F42-5E5BEB1D2194}"/>
              </a:ext>
            </a:extLst>
          </p:cNvPr>
          <p:cNvSpPr/>
          <p:nvPr/>
        </p:nvSpPr>
        <p:spPr>
          <a:xfrm>
            <a:off x="10668000" y="6421120"/>
            <a:ext cx="1503680" cy="416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8D584D59-F762-EBD8-66BD-4B69A281C75D}"/>
              </a:ext>
            </a:extLst>
          </p:cNvPr>
          <p:cNvSpPr/>
          <p:nvPr/>
        </p:nvSpPr>
        <p:spPr>
          <a:xfrm>
            <a:off x="543897" y="410795"/>
            <a:ext cx="4343845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kern="0" spc="-54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ource Serif 4 SemiBold" pitchFamily="34" charset="-120"/>
              </a:rPr>
              <a:t>Key findings</a:t>
            </a:r>
            <a:endParaRPr lang="en-US" sz="4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0BE003EA-5D6B-473F-95DA-96695EC42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97" y="1644383"/>
            <a:ext cx="1867733" cy="1154321"/>
          </a:xfrm>
          <a:prstGeom prst="rect">
            <a:avLst/>
          </a:prstGeom>
        </p:spPr>
      </p:pic>
      <p:sp>
        <p:nvSpPr>
          <p:cNvPr id="29" name="Text 1">
            <a:extLst>
              <a:ext uri="{FF2B5EF4-FFF2-40B4-BE49-F238E27FC236}">
                <a16:creationId xmlns:a16="http://schemas.microsoft.com/office/drawing/2014/main" id="{C7FE82AD-D2BC-965D-8E7C-E5E2E26440D8}"/>
              </a:ext>
            </a:extLst>
          </p:cNvPr>
          <p:cNvSpPr/>
          <p:nvPr/>
        </p:nvSpPr>
        <p:spPr>
          <a:xfrm>
            <a:off x="2194292" y="1776995"/>
            <a:ext cx="1911911" cy="949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27" dirty="0">
                <a:solidFill>
                  <a:srgbClr val="272525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ource Serif 4 SemiBold" pitchFamily="34" charset="-120"/>
              </a:rPr>
              <a:t>1. Casual rides are longer</a:t>
            </a: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31" name="Image 1" descr="preencoded.png">
            <a:extLst>
              <a:ext uri="{FF2B5EF4-FFF2-40B4-BE49-F238E27FC236}">
                <a16:creationId xmlns:a16="http://schemas.microsoft.com/office/drawing/2014/main" id="{ECC104C9-5B6B-4A55-95BD-A95F850C8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988" y="1644383"/>
            <a:ext cx="1857126" cy="1069737"/>
          </a:xfrm>
          <a:prstGeom prst="rect">
            <a:avLst/>
          </a:prstGeom>
        </p:spPr>
      </p:pic>
      <p:sp>
        <p:nvSpPr>
          <p:cNvPr id="33" name="Text 1">
            <a:extLst>
              <a:ext uri="{FF2B5EF4-FFF2-40B4-BE49-F238E27FC236}">
                <a16:creationId xmlns:a16="http://schemas.microsoft.com/office/drawing/2014/main" id="{5A84A249-EEB4-CFA3-89A1-BD01617FF960}"/>
              </a:ext>
            </a:extLst>
          </p:cNvPr>
          <p:cNvSpPr/>
          <p:nvPr/>
        </p:nvSpPr>
        <p:spPr>
          <a:xfrm>
            <a:off x="6173888" y="1745510"/>
            <a:ext cx="1911911" cy="949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27" dirty="0">
                <a:solidFill>
                  <a:srgbClr val="272525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ource Serif 4 SemiBold" pitchFamily="34" charset="-120"/>
              </a:rPr>
              <a:t>2. Members ride more often</a:t>
            </a: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5D1B9CFB-2990-6CD9-E27A-06A408B63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1573" y="1546979"/>
            <a:ext cx="1857126" cy="1147765"/>
          </a:xfrm>
          <a:prstGeom prst="rect">
            <a:avLst/>
          </a:prstGeom>
        </p:spPr>
      </p:pic>
      <p:sp>
        <p:nvSpPr>
          <p:cNvPr id="39" name="Text 1">
            <a:extLst>
              <a:ext uri="{FF2B5EF4-FFF2-40B4-BE49-F238E27FC236}">
                <a16:creationId xmlns:a16="http://schemas.microsoft.com/office/drawing/2014/main" id="{5E724887-B3C9-5380-B0C4-80AF949E71A8}"/>
              </a:ext>
            </a:extLst>
          </p:cNvPr>
          <p:cNvSpPr/>
          <p:nvPr/>
        </p:nvSpPr>
        <p:spPr>
          <a:xfrm>
            <a:off x="10280089" y="1764886"/>
            <a:ext cx="1911911" cy="949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27" dirty="0">
                <a:solidFill>
                  <a:srgbClr val="272525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ource Serif 4 SemiBold" pitchFamily="34" charset="-120"/>
              </a:rPr>
              <a:t>3. Seasonal casual surge</a:t>
            </a: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41" name="Image 3" descr="preencoded.png">
            <a:extLst>
              <a:ext uri="{FF2B5EF4-FFF2-40B4-BE49-F238E27FC236}">
                <a16:creationId xmlns:a16="http://schemas.microsoft.com/office/drawing/2014/main" id="{73EB3370-A46F-1DC7-A021-2769CAC04B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04" y="4357245"/>
            <a:ext cx="1857126" cy="1147765"/>
          </a:xfrm>
          <a:prstGeom prst="rect">
            <a:avLst/>
          </a:prstGeom>
        </p:spPr>
      </p:pic>
      <p:sp>
        <p:nvSpPr>
          <p:cNvPr id="43" name="Text 1">
            <a:extLst>
              <a:ext uri="{FF2B5EF4-FFF2-40B4-BE49-F238E27FC236}">
                <a16:creationId xmlns:a16="http://schemas.microsoft.com/office/drawing/2014/main" id="{C57D7C21-BB2F-AF41-A1AE-140D0939D3EC}"/>
              </a:ext>
            </a:extLst>
          </p:cNvPr>
          <p:cNvSpPr/>
          <p:nvPr/>
        </p:nvSpPr>
        <p:spPr>
          <a:xfrm>
            <a:off x="2194292" y="4555776"/>
            <a:ext cx="1911911" cy="949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27" dirty="0">
                <a:solidFill>
                  <a:srgbClr val="272525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ource Serif 4 SemiBold" pitchFamily="34" charset="-120"/>
              </a:rPr>
              <a:t>4. Weekends= longer trips</a:t>
            </a: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419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8104" y="553046"/>
            <a:ext cx="6223793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4000" kern="0" spc="-67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ource Serif 4 SemiBold" pitchFamily="34" charset="-120"/>
              </a:rPr>
              <a:t>Recommendations</a:t>
            </a:r>
            <a:endParaRPr lang="en-US" sz="4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98103" y="1861939"/>
            <a:ext cx="723107" cy="1084660"/>
          </a:xfrm>
          <a:prstGeom prst="roundRect">
            <a:avLst>
              <a:gd name="adj" fmla="val 50000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4024" y="2268638"/>
            <a:ext cx="271165" cy="27116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85020" y="2042716"/>
            <a:ext cx="5336877" cy="265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67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1. Weekend membership offers</a:t>
            </a:r>
            <a:endParaRPr lang="en-US" sz="1667" dirty="0"/>
          </a:p>
        </p:txBody>
      </p:sp>
      <p:sp>
        <p:nvSpPr>
          <p:cNvPr id="7" name="Text 3"/>
          <p:cNvSpPr/>
          <p:nvPr/>
        </p:nvSpPr>
        <p:spPr>
          <a:xfrm>
            <a:off x="1585020" y="2406848"/>
            <a:ext cx="5336877" cy="275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40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Time-limited discounts aimed at casuals who take long weekend rides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98103" y="3110409"/>
            <a:ext cx="723107" cy="1084660"/>
          </a:xfrm>
          <a:prstGeom prst="roundRect">
            <a:avLst>
              <a:gd name="adj" fmla="val 50000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4024" y="3517107"/>
            <a:ext cx="271165" cy="2711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85020" y="3291185"/>
            <a:ext cx="5336877" cy="265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67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2. Promote value for frequent casuals</a:t>
            </a:r>
            <a:endParaRPr lang="en-US" sz="1667" dirty="0"/>
          </a:p>
        </p:txBody>
      </p:sp>
      <p:sp>
        <p:nvSpPr>
          <p:cNvPr id="11" name="Text 6"/>
          <p:cNvSpPr/>
          <p:nvPr/>
        </p:nvSpPr>
        <p:spPr>
          <a:xfrm>
            <a:off x="1585020" y="3655318"/>
            <a:ext cx="5336877" cy="275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40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Highlight cost-per-ride savings for multi-hour / repeated users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98103" y="4358879"/>
            <a:ext cx="723107" cy="1084660"/>
          </a:xfrm>
          <a:prstGeom prst="roundRect">
            <a:avLst>
              <a:gd name="adj" fmla="val 50000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4024" y="4765576"/>
            <a:ext cx="271165" cy="2711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85020" y="4539655"/>
            <a:ext cx="5336877" cy="265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67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3. Targeted ads at leisure hotspots</a:t>
            </a:r>
            <a:endParaRPr lang="en-US" sz="1667" dirty="0"/>
          </a:p>
        </p:txBody>
      </p:sp>
      <p:sp>
        <p:nvSpPr>
          <p:cNvPr id="15" name="Text 9"/>
          <p:cNvSpPr/>
          <p:nvPr/>
        </p:nvSpPr>
        <p:spPr>
          <a:xfrm>
            <a:off x="1585020" y="4903788"/>
            <a:ext cx="5336877" cy="275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40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Geo-target tourists and park-area riders with membership trial offers</a:t>
            </a:r>
            <a:endParaRPr 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50E6A6-D6B7-BBE1-E470-9CA946C58E52}"/>
              </a:ext>
            </a:extLst>
          </p:cNvPr>
          <p:cNvSpPr/>
          <p:nvPr/>
        </p:nvSpPr>
        <p:spPr>
          <a:xfrm>
            <a:off x="10668000" y="6421120"/>
            <a:ext cx="1503680" cy="416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BFCE167-730F-1E99-D2AC-E7A25FF0543F}"/>
              </a:ext>
            </a:extLst>
          </p:cNvPr>
          <p:cNvSpPr/>
          <p:nvPr/>
        </p:nvSpPr>
        <p:spPr>
          <a:xfrm>
            <a:off x="698104" y="553046"/>
            <a:ext cx="6223793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4000" kern="0" spc="-67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ource Serif 4 SemiBold" pitchFamily="34" charset="-120"/>
              </a:rPr>
              <a:t>Conclusion</a:t>
            </a:r>
            <a:endParaRPr lang="en-US" sz="4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28CF0-E781-0ED6-1E39-3D92DA3112EE}"/>
              </a:ext>
            </a:extLst>
          </p:cNvPr>
          <p:cNvSpPr txBox="1"/>
          <p:nvPr/>
        </p:nvSpPr>
        <p:spPr>
          <a:xfrm>
            <a:off x="698104" y="1942791"/>
            <a:ext cx="66243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Cyclistic has an opportunity to convert casual riders into annual members.</a:t>
            </a: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Casual riders take longer rides</a:t>
            </a:r>
            <a:r>
              <a:rPr lang="en-IN" dirty="0"/>
              <a:t>, showing strong engagement with the service.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Members take more rides</a:t>
            </a:r>
            <a:r>
              <a:rPr lang="en-IN" dirty="0"/>
              <a:t>, showing the value of regular usage.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Different riding patterns</a:t>
            </a:r>
            <a:r>
              <a:rPr lang="en-IN" dirty="0"/>
              <a:t> provide opportunities for targeted marketing.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Weekend and seasonal patterns</a:t>
            </a:r>
            <a:r>
              <a:rPr lang="en-IN" dirty="0"/>
              <a:t> can help Cyclistic time its membership campaigns.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1C3FC5-97A2-5FC2-DC34-8F8C224F3740}"/>
              </a:ext>
            </a:extLst>
          </p:cNvPr>
          <p:cNvSpPr/>
          <p:nvPr/>
        </p:nvSpPr>
        <p:spPr>
          <a:xfrm>
            <a:off x="10668000" y="6421120"/>
            <a:ext cx="1503680" cy="416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000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313</Words>
  <Application>Microsoft Office PowerPoint</Application>
  <PresentationFormat>Widescreen</PresentationFormat>
  <Paragraphs>51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Segoe UI Black</vt:lpstr>
      <vt:lpstr>Source Sans 3</vt:lpstr>
      <vt:lpstr>Source Serif 4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Farhan Deshmukh</dc:creator>
  <cp:lastModifiedBy>Farhan Deshmukh</cp:lastModifiedBy>
  <cp:revision>4</cp:revision>
  <dcterms:created xsi:type="dcterms:W3CDTF">2026-08-17T09:55:28Z</dcterms:created>
  <dcterms:modified xsi:type="dcterms:W3CDTF">2026-08-17T15:46:32Z</dcterms:modified>
</cp:coreProperties>
</file>